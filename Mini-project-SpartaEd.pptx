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99" name="Google Shape;99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10" name="Google Shape;110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20" name="Google Shape;120;p3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27" name="Google Shape;127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33" name="Google Shape;133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39" name="Google Shape;139;p6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46" name="Google Shape;146;p7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51" name="Google Shape;151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56" name="Google Shape;156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62" name="Google Shape;162;p1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2"/>
          <p:cNvSpPr txBox="1"/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" name="Google Shape;16;p2"/>
          <p:cNvSpPr txBox="1"/>
          <p:nvPr>
            <p:ph idx="1" type="body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◦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◦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◦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◦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◦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◦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◦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◦"/>
              <a:defRPr/>
            </a:lvl9pPr>
          </a:lstStyle>
          <a:p/>
        </p:txBody>
      </p:sp>
      <p:sp>
        <p:nvSpPr>
          <p:cNvPr id="17" name="Google Shape;17;p2"/>
          <p:cNvSpPr txBox="1"/>
          <p:nvPr>
            <p:ph idx="10" type="dt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1" type="ftr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2"/>
          <p:cNvSpPr txBox="1"/>
          <p:nvPr>
            <p:ph idx="12" type="sldNum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3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" name="Google Shape;22;p3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" name="Google Shape;23;p3"/>
          <p:cNvSpPr txBox="1"/>
          <p:nvPr>
            <p:ph type="ctrTitle"/>
          </p:nvPr>
        </p:nvSpPr>
        <p:spPr>
          <a:xfrm>
            <a:off x="1097280" y="758952"/>
            <a:ext cx="10058400" cy="356616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8000"/>
              <a:buFont typeface="Calibri"/>
              <a:buNone/>
              <a:defRPr sz="8000">
                <a:solidFill>
                  <a:srgbClr val="262626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" name="Google Shape;24;p3"/>
          <p:cNvSpPr txBox="1"/>
          <p:nvPr>
            <p:ph idx="1" type="subTitle"/>
          </p:nvPr>
        </p:nvSpPr>
        <p:spPr>
          <a:xfrm>
            <a:off x="1100051" y="4455620"/>
            <a:ext cx="100584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None/>
              <a:defRPr sz="2400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None/>
              <a:defRPr sz="20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None/>
              <a:defRPr sz="20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None/>
              <a:defRPr sz="20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None/>
              <a:defRPr sz="20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None/>
              <a:defRPr sz="20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25" name="Google Shape;25;p3"/>
          <p:cNvSpPr txBox="1"/>
          <p:nvPr>
            <p:ph idx="10" type="dt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1" type="ftr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2" type="sldNum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8" name="Google Shape;28;p3"/>
          <p:cNvCxnSpPr/>
          <p:nvPr/>
        </p:nvCxnSpPr>
        <p:spPr>
          <a:xfrm>
            <a:off x="1207658" y="4343400"/>
            <a:ext cx="9875520" cy="0"/>
          </a:xfrm>
          <a:prstGeom prst="straightConnector1">
            <a:avLst/>
          </a:prstGeom>
          <a:noFill/>
          <a:ln cap="flat" cmpd="sng" w="9525">
            <a:solidFill>
              <a:srgbClr val="7F7F7F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bg>
      <p:bgPr>
        <a:solidFill>
          <a:schemeClr val="lt1"/>
        </a:solidFill>
      </p:bgPr>
    </p:bg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" name="Google Shape;31;p4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32;p4"/>
          <p:cNvSpPr txBox="1"/>
          <p:nvPr>
            <p:ph type="title"/>
          </p:nvPr>
        </p:nvSpPr>
        <p:spPr>
          <a:xfrm>
            <a:off x="1097280" y="758952"/>
            <a:ext cx="10058400" cy="356616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8000"/>
              <a:buFont typeface="Calibri"/>
              <a:buNone/>
              <a:defRPr b="0" sz="8000">
                <a:solidFill>
                  <a:srgbClr val="262626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" type="body"/>
          </p:nvPr>
        </p:nvSpPr>
        <p:spPr>
          <a:xfrm>
            <a:off x="1097280" y="4453128"/>
            <a:ext cx="100584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None/>
              <a:defRPr sz="2400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7" name="Google Shape;37;p4"/>
          <p:cNvCxnSpPr/>
          <p:nvPr/>
        </p:nvCxnSpPr>
        <p:spPr>
          <a:xfrm>
            <a:off x="1207658" y="4343400"/>
            <a:ext cx="9875520" cy="0"/>
          </a:xfrm>
          <a:prstGeom prst="straightConnector1">
            <a:avLst/>
          </a:prstGeom>
          <a:noFill/>
          <a:ln cap="flat" cmpd="sng" w="9525">
            <a:solidFill>
              <a:srgbClr val="7F7F7F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97279" y="1845734"/>
            <a:ext cx="493776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◦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◦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◦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◦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◦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◦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◦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◦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6217920" y="1845735"/>
            <a:ext cx="493776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◦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◦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◦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◦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◦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◦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◦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◦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97280" y="1846052"/>
            <a:ext cx="4937760" cy="73628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000"/>
              <a:buNone/>
              <a:defRPr b="0" sz="2000" cap="none">
                <a:solidFill>
                  <a:schemeClr val="dk2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97280" y="2582334"/>
            <a:ext cx="4937760" cy="3378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◦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◦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◦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◦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◦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◦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◦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◦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6217920" y="1846052"/>
            <a:ext cx="4937760" cy="73628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000"/>
              <a:buNone/>
              <a:defRPr b="0" sz="2000" cap="none">
                <a:solidFill>
                  <a:schemeClr val="dk2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6217920" y="2582334"/>
            <a:ext cx="4937760" cy="3378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◦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◦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◦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◦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◦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◦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◦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◦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" name="Google Shape;61;p8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" name="Google Shape;62;p8"/>
          <p:cNvSpPr txBox="1"/>
          <p:nvPr>
            <p:ph idx="10" type="dt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1" type="ftr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FFFFFF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2" type="sldNum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showMasterSp="0" type="objTx">
  <p:cSld name="OBJECT_WITH_CAPTION_TEXT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9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" name="Google Shape;67;p9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" name="Google Shape;68;p9"/>
          <p:cNvSpPr txBox="1"/>
          <p:nvPr>
            <p:ph type="title"/>
          </p:nvPr>
        </p:nvSpPr>
        <p:spPr>
          <a:xfrm>
            <a:off x="457200" y="594359"/>
            <a:ext cx="3200400" cy="22860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Calibri"/>
              <a:buNone/>
              <a:defRPr b="0" sz="3600">
                <a:solidFill>
                  <a:srgbClr val="FFFFFF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" type="body"/>
          </p:nvPr>
        </p:nvSpPr>
        <p:spPr>
          <a:xfrm>
            <a:off x="4800600" y="731520"/>
            <a:ext cx="6492240" cy="525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◦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◦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◦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◦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◦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◦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◦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◦"/>
              <a:defRPr/>
            </a:lvl9pPr>
          </a:lstStyle>
          <a:p/>
        </p:txBody>
      </p:sp>
      <p:sp>
        <p:nvSpPr>
          <p:cNvPr id="70" name="Google Shape;70;p9"/>
          <p:cNvSpPr txBox="1"/>
          <p:nvPr>
            <p:ph idx="2" type="body"/>
          </p:nvPr>
        </p:nvSpPr>
        <p:spPr>
          <a:xfrm>
            <a:off x="457200" y="2926080"/>
            <a:ext cx="3200400" cy="337912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500"/>
              <a:buNone/>
              <a:defRPr sz="1500">
                <a:solidFill>
                  <a:srgbClr val="FFFFFF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1" name="Google Shape;71;p9"/>
          <p:cNvSpPr txBox="1"/>
          <p:nvPr>
            <p:ph idx="10" type="dt"/>
          </p:nvPr>
        </p:nvSpPr>
        <p:spPr>
          <a:xfrm>
            <a:off x="465512" y="6459785"/>
            <a:ext cx="261851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9"/>
          <p:cNvSpPr txBox="1"/>
          <p:nvPr>
            <p:ph idx="11" type="ftr"/>
          </p:nvPr>
        </p:nvSpPr>
        <p:spPr>
          <a:xfrm>
            <a:off x="4800600" y="6459785"/>
            <a:ext cx="4648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dk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9"/>
          <p:cNvSpPr txBox="1"/>
          <p:nvPr>
            <p:ph idx="12" type="sldNum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050" u="none" cap="none" strike="noStrik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050" u="none" cap="none" strike="noStrik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050" u="none" cap="none" strike="noStrik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050" u="none" cap="none" strike="noStrik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050" u="none" cap="none" strike="noStrik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050" u="none" cap="none" strike="noStrik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050" u="none" cap="none" strike="noStrik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050" u="none" cap="none" strike="noStrik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050" u="none" cap="none" strike="noStrik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0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" name="Google Shape;76;p10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" name="Google Shape;77;p10"/>
          <p:cNvSpPr txBox="1"/>
          <p:nvPr>
            <p:ph type="title"/>
          </p:nvPr>
        </p:nvSpPr>
        <p:spPr>
          <a:xfrm>
            <a:off x="1097280" y="5074920"/>
            <a:ext cx="10113264" cy="82296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91425" spcFirstLastPara="1" rIns="91425" wrap="square" tIns="0">
            <a:noAutofit/>
          </a:bodyPr>
          <a:lstStyle>
            <a:lvl1pPr lv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Calibri"/>
              <a:buNone/>
              <a:defRPr b="0" sz="3600">
                <a:solidFill>
                  <a:srgbClr val="FFFFFF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0"/>
          <p:cNvSpPr/>
          <p:nvPr>
            <p:ph idx="2" type="pic"/>
          </p:nvPr>
        </p:nvSpPr>
        <p:spPr>
          <a:xfrm>
            <a:off x="15" y="0"/>
            <a:ext cx="12191985" cy="4915076"/>
          </a:xfrm>
          <a:prstGeom prst="rect">
            <a:avLst/>
          </a:prstGeom>
          <a:noFill/>
          <a:ln>
            <a:noFill/>
          </a:ln>
        </p:spPr>
      </p:sp>
      <p:sp>
        <p:nvSpPr>
          <p:cNvPr id="79" name="Google Shape;79;p10"/>
          <p:cNvSpPr txBox="1"/>
          <p:nvPr>
            <p:ph idx="1" type="body"/>
          </p:nvPr>
        </p:nvSpPr>
        <p:spPr>
          <a:xfrm>
            <a:off x="1097280" y="5907023"/>
            <a:ext cx="10113264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425" spcFirstLastPara="1" rIns="91425" wrap="square" tIns="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>
                <a:solidFill>
                  <a:srgbClr val="FFFFFF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80" name="Google Shape;80;p10"/>
          <p:cNvSpPr txBox="1"/>
          <p:nvPr>
            <p:ph idx="10" type="dt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1" name="Google Shape;81;p10"/>
          <p:cNvSpPr txBox="1"/>
          <p:nvPr>
            <p:ph idx="11" type="ftr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0"/>
          <p:cNvSpPr txBox="1"/>
          <p:nvPr>
            <p:ph idx="12" type="sldNum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1"/>
          <p:cNvSpPr txBox="1"/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5" name="Google Shape;85;p11"/>
          <p:cNvSpPr txBox="1"/>
          <p:nvPr>
            <p:ph idx="1" type="body"/>
          </p:nvPr>
        </p:nvSpPr>
        <p:spPr>
          <a:xfrm rot="5400000">
            <a:off x="4114800" y="-1171786"/>
            <a:ext cx="4023360" cy="10058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45700" spcFirstLastPara="1" rIns="45700" wrap="square" tIns="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◦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◦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◦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◦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◦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◦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◦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◦"/>
              <a:defRPr/>
            </a:lvl9pPr>
          </a:lstStyle>
          <a:p/>
        </p:txBody>
      </p:sp>
      <p:sp>
        <p:nvSpPr>
          <p:cNvPr id="86" name="Google Shape;86;p11"/>
          <p:cNvSpPr txBox="1"/>
          <p:nvPr>
            <p:ph idx="10" type="dt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1"/>
          <p:cNvSpPr txBox="1"/>
          <p:nvPr>
            <p:ph idx="11" type="ftr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1"/>
          <p:cNvSpPr txBox="1"/>
          <p:nvPr>
            <p:ph idx="12" type="sldNum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2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" name="Google Shape;91;p12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" name="Google Shape;92;p12"/>
          <p:cNvSpPr txBox="1"/>
          <p:nvPr>
            <p:ph type="title"/>
          </p:nvPr>
        </p:nvSpPr>
        <p:spPr>
          <a:xfrm rot="5400000">
            <a:off x="7160640" y="1979039"/>
            <a:ext cx="5757421" cy="26289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2"/>
          <p:cNvSpPr txBox="1"/>
          <p:nvPr>
            <p:ph idx="1" type="body"/>
          </p:nvPr>
        </p:nvSpPr>
        <p:spPr>
          <a:xfrm rot="5400000">
            <a:off x="1826639" y="-573661"/>
            <a:ext cx="5757422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45700" spcFirstLastPara="1" rIns="45700" wrap="square" tIns="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◦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◦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◦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◦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◦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◦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◦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◦"/>
              <a:defRPr/>
            </a:lvl9pPr>
          </a:lstStyle>
          <a:p/>
        </p:txBody>
      </p:sp>
      <p:sp>
        <p:nvSpPr>
          <p:cNvPr id="94" name="Google Shape;94;p12"/>
          <p:cNvSpPr txBox="1"/>
          <p:nvPr>
            <p:ph idx="10" type="dt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2"/>
          <p:cNvSpPr txBox="1"/>
          <p:nvPr>
            <p:ph idx="11" type="ftr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2"/>
          <p:cNvSpPr txBox="1"/>
          <p:nvPr>
            <p:ph idx="12" type="sldNum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7;p1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8;p1"/>
          <p:cNvSpPr txBox="1"/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marR="0" rt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b="0" i="0" sz="4800" u="none" cap="none" strike="noStrik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" type="body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45700">
            <a:normAutofit/>
          </a:bodyPr>
          <a:lstStyle>
            <a:lvl1pPr indent="-3556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b="0" i="0" sz="2000" u="none" cap="none" strike="noStrik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b="0" i="0" sz="1800" u="none" cap="none" strike="noStrik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i="0" sz="1400" u="none" cap="none" strike="noStrik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i="0" sz="1400" u="none" cap="none" strike="noStrik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i="0" sz="1400" u="none" cap="none" strike="noStrik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i="0" sz="1400" u="none" cap="none" strike="noStrik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i="0" sz="1400" u="none" cap="none" strike="noStrik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i="0" sz="1400" u="none" cap="none" strike="noStrik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b="0" i="0" sz="1400" u="none" cap="none" strike="noStrik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0" type="dt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1" name="Google Shape;11;p1"/>
          <p:cNvSpPr txBox="1"/>
          <p:nvPr>
            <p:ph idx="11" type="ftr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2" type="sldNum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3" name="Google Shape;13;p1"/>
          <p:cNvCxnSpPr/>
          <p:nvPr/>
        </p:nvCxnSpPr>
        <p:spPr>
          <a:xfrm>
            <a:off x="1193532" y="1737845"/>
            <a:ext cx="9966960" cy="0"/>
          </a:xfrm>
          <a:prstGeom prst="straightConnector1">
            <a:avLst/>
          </a:prstGeom>
          <a:noFill/>
          <a:ln cap="flat" cmpd="sng" w="9525">
            <a:solidFill>
              <a:srgbClr val="7F7F7F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6.png"/><Relationship Id="rId4" Type="http://schemas.openxmlformats.org/officeDocument/2006/relationships/hyperlink" Target="https://github.com/alina951/olist-data-engineering-project" TargetMode="External"/><Relationship Id="rId5" Type="http://schemas.openxmlformats.org/officeDocument/2006/relationships/hyperlink" Target="https://github.com/Mikeecee1/BrazilianECommerce" TargetMode="Externa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0.jp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7.png"/><Relationship Id="rId4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Low angle view of building corner against the clear blue sky" id="101" name="Google Shape;101;p13"/>
          <p:cNvPicPr preferRelativeResize="0"/>
          <p:nvPr/>
        </p:nvPicPr>
        <p:blipFill rotWithShape="1">
          <a:blip r:embed="rId3">
            <a:alphaModFix amt="35000"/>
          </a:blip>
          <a:srcRect b="7330" l="0" r="0" t="17670"/>
          <a:stretch/>
        </p:blipFill>
        <p:spPr>
          <a:xfrm>
            <a:off x="20" y="10"/>
            <a:ext cx="12191980" cy="685799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2" name="Google Shape;102;p13"/>
          <p:cNvCxnSpPr/>
          <p:nvPr/>
        </p:nvCxnSpPr>
        <p:spPr>
          <a:xfrm>
            <a:off x="1193532" y="1737845"/>
            <a:ext cx="9966960" cy="0"/>
          </a:xfrm>
          <a:prstGeom prst="straightConnector1">
            <a:avLst/>
          </a:prstGeom>
          <a:noFill/>
          <a:ln cap="flat" cmpd="sng" w="9525">
            <a:solidFill>
              <a:srgbClr val="7F7F7F">
                <a:alpha val="90196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3" name="Google Shape;103;p13"/>
          <p:cNvSpPr txBox="1"/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</a:pPr>
            <a:r>
              <a:rPr lang="en-GB"/>
              <a:t> Building and Analysing a Relational Database</a:t>
            </a:r>
            <a:endParaRPr/>
          </a:p>
        </p:txBody>
      </p:sp>
      <p:sp>
        <p:nvSpPr>
          <p:cNvPr id="104" name="Google Shape;104;p13"/>
          <p:cNvSpPr txBox="1"/>
          <p:nvPr>
            <p:ph idx="1" type="body"/>
          </p:nvPr>
        </p:nvSpPr>
        <p:spPr>
          <a:xfrm>
            <a:off x="1097275" y="1845727"/>
            <a:ext cx="10058400" cy="3180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000"/>
              <a:buChar char=" "/>
            </a:pPr>
            <a:r>
              <a:rPr lang="en-GB"/>
              <a:t>Sparta Global – Model Data Engineering with AI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000"/>
              <a:buChar char=" "/>
            </a:pPr>
            <a:r>
              <a:rPr lang="en-GB"/>
              <a:t> Michael Cooksley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000"/>
              <a:buChar char=" "/>
            </a:pPr>
            <a:r>
              <a:rPr lang="en-GB"/>
              <a:t>Alina Arus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1800"/>
              <a:buChar char=" "/>
            </a:pPr>
            <a:r>
              <a:rPr lang="en-GB"/>
              <a:t>Matthew Newton</a:t>
            </a:r>
            <a:endParaRPr/>
          </a:p>
        </p:txBody>
      </p:sp>
      <p:sp>
        <p:nvSpPr>
          <p:cNvPr id="105" name="Google Shape;105;p13"/>
          <p:cNvSpPr/>
          <p:nvPr/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" name="Google Shape;106;p13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" name="Google Shape;107;p13"/>
          <p:cNvSpPr txBox="1"/>
          <p:nvPr/>
        </p:nvSpPr>
        <p:spPr>
          <a:xfrm>
            <a:off x="1182025" y="4832850"/>
            <a:ext cx="9888900" cy="123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			</a:t>
            </a:r>
            <a:r>
              <a:rPr lang="en-GB" sz="2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https://github.com/alina951/olist-data-engineering-project</a:t>
            </a:r>
            <a:endParaRPr sz="200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			</a:t>
            </a:r>
            <a:br>
              <a:rPr lang="en-GB" sz="200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200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			</a:t>
            </a:r>
            <a:r>
              <a:rPr lang="en-GB" sz="2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https://github.com/Mikeecee1/BrazilianECommerce</a:t>
            </a:r>
            <a:br>
              <a:rPr lang="en-GB" sz="200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14"/>
          <p:cNvSpPr/>
          <p:nvPr/>
        </p:nvSpPr>
        <p:spPr>
          <a:xfrm>
            <a:off x="0" y="1"/>
            <a:ext cx="12192000" cy="6857999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14"/>
          <p:cNvSpPr/>
          <p:nvPr/>
        </p:nvSpPr>
        <p:spPr>
          <a:xfrm>
            <a:off x="25743" y="0"/>
            <a:ext cx="12192000" cy="6334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14"/>
          <p:cNvSpPr txBox="1"/>
          <p:nvPr>
            <p:ph type="title"/>
          </p:nvPr>
        </p:nvSpPr>
        <p:spPr>
          <a:xfrm>
            <a:off x="5181601" y="634946"/>
            <a:ext cx="6368142" cy="145075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</a:pPr>
            <a:r>
              <a:rPr lang="en-GB"/>
              <a:t>Project Overview</a:t>
            </a:r>
            <a:endParaRPr/>
          </a:p>
        </p:txBody>
      </p:sp>
      <p:pic>
        <p:nvPicPr>
          <p:cNvPr descr="Top view of cubes connected with black lines" id="115" name="Google Shape;115;p14"/>
          <p:cNvPicPr preferRelativeResize="0"/>
          <p:nvPr/>
        </p:nvPicPr>
        <p:blipFill rotWithShape="1">
          <a:blip r:embed="rId3">
            <a:alphaModFix/>
          </a:blip>
          <a:srcRect b="6" l="29747" r="19446" t="0"/>
          <a:stretch/>
        </p:blipFill>
        <p:spPr>
          <a:xfrm>
            <a:off x="20" y="-12128"/>
            <a:ext cx="4654276" cy="687012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16" name="Google Shape;116;p14"/>
          <p:cNvCxnSpPr/>
          <p:nvPr/>
        </p:nvCxnSpPr>
        <p:spPr>
          <a:xfrm>
            <a:off x="5287617" y="2085703"/>
            <a:ext cx="6170686" cy="0"/>
          </a:xfrm>
          <a:prstGeom prst="straightConnector1">
            <a:avLst/>
          </a:prstGeom>
          <a:noFill/>
          <a:ln cap="flat" cmpd="sng" w="9525">
            <a:solidFill>
              <a:srgbClr val="7F7F7F">
                <a:alpha val="90196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17" name="Google Shape;117;p14"/>
          <p:cNvSpPr txBox="1"/>
          <p:nvPr>
            <p:ph idx="1" type="body"/>
          </p:nvPr>
        </p:nvSpPr>
        <p:spPr>
          <a:xfrm>
            <a:off x="5181600" y="2198927"/>
            <a:ext cx="6368100" cy="4407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 lnSpcReduction="10000"/>
          </a:bodyPr>
          <a:lstStyle/>
          <a:p>
            <a:pPr indent="-9144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000"/>
              <a:buChar char=" "/>
            </a:pPr>
            <a:r>
              <a:rPr b="1" lang="en-GB"/>
              <a:t>Objective</a:t>
            </a:r>
            <a:endParaRPr b="1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000"/>
              <a:buChar char=" "/>
            </a:pPr>
            <a:r>
              <a:rPr lang="en-GB"/>
              <a:t>The aim of this project was to transform the Olist Brazilian E-commerce dataset into a relational SQL database and perform business analysis using SQL.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000"/>
              <a:buChar char=" "/>
            </a:pPr>
            <a:r>
              <a:rPr lang="en-GB"/>
              <a:t>T</a:t>
            </a:r>
            <a:r>
              <a:rPr b="1" lang="en-GB"/>
              <a:t>echnologies</a:t>
            </a:r>
            <a:endParaRPr b="1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000"/>
              <a:buChar char=" "/>
            </a:pPr>
            <a:r>
              <a:rPr lang="en-GB"/>
              <a:t>SQL Server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000"/>
              <a:buChar char=" "/>
            </a:pPr>
            <a:r>
              <a:rPr lang="en-GB"/>
              <a:t>SSMS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000"/>
              <a:buChar char=" "/>
            </a:pPr>
            <a:r>
              <a:rPr lang="en-GB"/>
              <a:t>Git &amp; GitHub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000"/>
              <a:buChar char=" "/>
            </a:pPr>
            <a:r>
              <a:rPr lang="en-GB"/>
              <a:t>VS Code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15"/>
          <p:cNvSpPr txBox="1"/>
          <p:nvPr>
            <p:ph type="ctrTitle"/>
          </p:nvPr>
        </p:nvSpPr>
        <p:spPr>
          <a:xfrm>
            <a:off x="1097280" y="758952"/>
            <a:ext cx="10058400" cy="35661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8000"/>
              <a:buFont typeface="Calibri"/>
              <a:buNone/>
            </a:pPr>
            <a:r>
              <a:t/>
            </a:r>
            <a:endParaRPr/>
          </a:p>
        </p:txBody>
      </p:sp>
      <p:sp>
        <p:nvSpPr>
          <p:cNvPr id="123" name="Google Shape;123;p15"/>
          <p:cNvSpPr txBox="1"/>
          <p:nvPr>
            <p:ph idx="1" type="subTitle"/>
          </p:nvPr>
        </p:nvSpPr>
        <p:spPr>
          <a:xfrm>
            <a:off x="1100051" y="4455620"/>
            <a:ext cx="100584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355600" lvl="0" marL="45720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/>
          </a:p>
        </p:txBody>
      </p:sp>
      <p:pic>
        <p:nvPicPr>
          <p:cNvPr descr="A screenshot of a graph" id="124" name="Google Shape;124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45961" y="174172"/>
            <a:ext cx="12571297" cy="61900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16"/>
          <p:cNvSpPr txBox="1"/>
          <p:nvPr>
            <p:ph type="title"/>
          </p:nvPr>
        </p:nvSpPr>
        <p:spPr>
          <a:xfrm>
            <a:off x="97708" y="728905"/>
            <a:ext cx="2479238" cy="51034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1600"/>
              <a:buFont typeface="Calibri"/>
              <a:buNone/>
            </a:pPr>
            <a:r>
              <a:rPr b="1" lang="en-GB" sz="1600">
                <a:latin typeface="Calibri"/>
                <a:ea typeface="Calibri"/>
                <a:cs typeface="Calibri"/>
                <a:sym typeface="Calibri"/>
              </a:rPr>
              <a:t>Database Design</a:t>
            </a:r>
            <a:endParaRPr b="1" sz="16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0" name="Google Shape;130;p16" title="ERD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791725" y="152400"/>
            <a:ext cx="9898275" cy="59538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17"/>
          <p:cNvSpPr txBox="1"/>
          <p:nvPr>
            <p:ph type="title"/>
          </p:nvPr>
        </p:nvSpPr>
        <p:spPr>
          <a:xfrm>
            <a:off x="1066805" y="737103"/>
            <a:ext cx="10058400" cy="3561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1800"/>
              <a:buFont typeface="Calibri"/>
              <a:buNone/>
            </a:pPr>
            <a:r>
              <a:rPr b="1" lang="en-GB" sz="2400"/>
              <a:t>Development Issues</a:t>
            </a:r>
            <a:endParaRPr b="1" sz="2400"/>
          </a:p>
        </p:txBody>
      </p:sp>
      <p:sp>
        <p:nvSpPr>
          <p:cNvPr id="136" name="Google Shape;136;p17"/>
          <p:cNvSpPr txBox="1"/>
          <p:nvPr/>
        </p:nvSpPr>
        <p:spPr>
          <a:xfrm>
            <a:off x="952925" y="1405000"/>
            <a:ext cx="10762800" cy="4418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br>
              <a:rPr b="0" i="0" lang="en-GB" sz="2000" u="none" cap="none" strike="noStrik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b="0" i="0" sz="2000" u="none" cap="none" strike="noStrike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746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2300"/>
              <a:buFont typeface="Calibri"/>
              <a:buChar char="●"/>
            </a:pPr>
            <a:r>
              <a:rPr b="0" i="0" lang="en-GB" sz="2300" u="none" cap="none" strike="noStrik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Had issues with original database - too messy, very long strings and not appropriate for an extensive db schema </a:t>
            </a:r>
            <a:endParaRPr b="0" i="0" sz="2300" u="none" cap="none" strike="noStrike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746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2300"/>
              <a:buFont typeface="Calibri"/>
              <a:buChar char="●"/>
            </a:pPr>
            <a:r>
              <a:rPr b="0" i="0" lang="en-GB" sz="2300" u="none" cap="none" strike="noStrik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Cleaning fairly easy for second database - used pandas to replace some portuguese text with English</a:t>
            </a:r>
            <a:endParaRPr b="0" i="0" sz="2300" u="none" cap="none" strike="noStrike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746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2300"/>
              <a:buFont typeface="Calibri"/>
              <a:buChar char="●"/>
            </a:pPr>
            <a:r>
              <a:rPr b="0" i="0" lang="en-GB" sz="2300" u="none" cap="none" strike="noStrik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Had some issues with using creation script with bulk import - found a workaround</a:t>
            </a:r>
            <a:br>
              <a:rPr b="0" i="0" lang="en-GB" sz="2300" u="none" cap="none" strike="noStrik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GB" sz="2300" u="none" cap="none" strike="noStrik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(due to a bug with sql issues importing CHAR strings in bulk)</a:t>
            </a:r>
            <a:endParaRPr b="0" i="0" sz="2300" u="none" cap="none" strike="noStrike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746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2300"/>
              <a:buFont typeface="Calibri"/>
              <a:buChar char="●"/>
            </a:pPr>
            <a:r>
              <a:rPr lang="en-GB" sz="230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Geolocation Table was not really in a SQL format and was not used in final database</a:t>
            </a:r>
            <a:endParaRPr sz="230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t/>
            </a:r>
            <a:endParaRPr b="0" i="0" sz="2300" u="none" cap="none" strike="noStrike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8"/>
          <p:cNvSpPr txBox="1"/>
          <p:nvPr>
            <p:ph type="title"/>
          </p:nvPr>
        </p:nvSpPr>
        <p:spPr>
          <a:xfrm>
            <a:off x="1097280" y="286603"/>
            <a:ext cx="10058400" cy="3561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1800"/>
              <a:buFont typeface="Calibri"/>
              <a:buNone/>
            </a:pPr>
            <a:r>
              <a:rPr b="1" lang="en-GB" sz="1800"/>
              <a:t>CREATION &amp; BULK INSERTION SCRIPTS</a:t>
            </a:r>
            <a:endParaRPr b="1" sz="1800"/>
          </a:p>
        </p:txBody>
      </p:sp>
      <p:pic>
        <p:nvPicPr>
          <p:cNvPr id="142" name="Google Shape;14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39375" y="983400"/>
            <a:ext cx="5438075" cy="52721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52400" y="983400"/>
            <a:ext cx="5578050" cy="5272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46525" y="416100"/>
            <a:ext cx="10808976" cy="57825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3" name="Google Shape;153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45575" y="254200"/>
            <a:ext cx="10120050" cy="5992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21"/>
          <p:cNvSpPr txBox="1"/>
          <p:nvPr>
            <p:ph type="title"/>
          </p:nvPr>
        </p:nvSpPr>
        <p:spPr>
          <a:xfrm>
            <a:off x="1097280" y="286603"/>
            <a:ext cx="10058400" cy="56406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 fontScale="90000"/>
          </a:bodyPr>
          <a:lstStyle/>
          <a:p>
            <a:pPr indent="0" lvl="0" marL="0" rtl="0"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ct val="100000"/>
              <a:buFont typeface="Calibri"/>
              <a:buNone/>
            </a:pPr>
            <a:r>
              <a:rPr lang="en-GB"/>
              <a:t>Performance Optimisation </a:t>
            </a:r>
            <a:endParaRPr/>
          </a:p>
        </p:txBody>
      </p:sp>
      <p:pic>
        <p:nvPicPr>
          <p:cNvPr id="159" name="Google Shape;159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30950" y="990250"/>
            <a:ext cx="10791051" cy="50673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22"/>
          <p:cNvSpPr txBox="1"/>
          <p:nvPr>
            <p:ph type="ctrTitle"/>
          </p:nvPr>
        </p:nvSpPr>
        <p:spPr>
          <a:xfrm>
            <a:off x="1097280" y="758952"/>
            <a:ext cx="10058400" cy="8535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8000"/>
              <a:buNone/>
            </a:pPr>
            <a:r>
              <a:rPr lang="en-GB" sz="4800"/>
              <a:t>Conclusion </a:t>
            </a:r>
            <a:endParaRPr sz="4800"/>
          </a:p>
        </p:txBody>
      </p:sp>
      <p:sp>
        <p:nvSpPr>
          <p:cNvPr id="165" name="Google Shape;165;p22"/>
          <p:cNvSpPr txBox="1"/>
          <p:nvPr>
            <p:ph idx="1" type="subTitle"/>
          </p:nvPr>
        </p:nvSpPr>
        <p:spPr>
          <a:xfrm>
            <a:off x="1100051" y="1718516"/>
            <a:ext cx="10058400" cy="3996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 lnSpcReduction="10000"/>
          </a:bodyPr>
          <a:lstStyle/>
          <a:p>
            <a:pPr indent="-285750" lvl="0" marL="28575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Font typeface="Arial"/>
              <a:buChar char="•"/>
            </a:pPr>
            <a:r>
              <a:rPr lang="en-GB"/>
              <a:t>This project demonstrated the complete lifecycle of building a relational database from raw data. </a:t>
            </a:r>
            <a:endParaRPr/>
          </a:p>
          <a:p>
            <a:pPr indent="-285750" lvl="0" marL="28575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Font typeface="Arial"/>
              <a:buChar char="•"/>
            </a:pPr>
            <a:r>
              <a:rPr lang="en-GB"/>
              <a:t>By cleaning, modelling and analysing the dataset, we created a reliable database that supports efficient querying and business decision-making. </a:t>
            </a:r>
            <a:endParaRPr/>
          </a:p>
          <a:p>
            <a:pPr indent="-285750" lvl="0" marL="28575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Font typeface="Arial"/>
              <a:buChar char="•"/>
            </a:pPr>
            <a:r>
              <a:rPr lang="en-GB"/>
              <a:t>The project strengthened our practical skills in SQL Server, database design, ETL concepts. </a:t>
            </a:r>
            <a:endParaRPr/>
          </a:p>
          <a:p>
            <a:pPr indent="-133350" lvl="0" marL="28575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/>
          </a:p>
          <a:p>
            <a:pPr indent="-285750" lvl="0" marL="28575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Font typeface="Arial"/>
              <a:buChar char="•"/>
            </a:pPr>
            <a:r>
              <a:rPr lang="en-GB"/>
              <a:t>In future, the solution could be extended with automated ETL pipelines, dashboards and cloud-based deployment.</a:t>
            </a:r>
            <a:endParaRPr/>
          </a:p>
          <a:p>
            <a:pPr indent="-355600" lvl="0" marL="45720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3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1" name="Google Shape;171;p23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72" name="Google Shape;172;p23"/>
          <p:cNvCxnSpPr/>
          <p:nvPr/>
        </p:nvCxnSpPr>
        <p:spPr>
          <a:xfrm>
            <a:off x="1207658" y="4343400"/>
            <a:ext cx="9875520" cy="0"/>
          </a:xfrm>
          <a:prstGeom prst="straightConnector1">
            <a:avLst/>
          </a:prstGeom>
          <a:noFill/>
          <a:ln cap="flat" cmpd="sng" w="9525">
            <a:solidFill>
              <a:srgbClr val="7F7F7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3" name="Google Shape;173;p23"/>
          <p:cNvSpPr/>
          <p:nvPr/>
        </p:nvSpPr>
        <p:spPr>
          <a:xfrm>
            <a:off x="0" y="-1"/>
            <a:ext cx="12192001" cy="6857999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23"/>
          <p:cNvSpPr txBox="1"/>
          <p:nvPr>
            <p:ph type="title"/>
          </p:nvPr>
        </p:nvSpPr>
        <p:spPr>
          <a:xfrm>
            <a:off x="5289754" y="639097"/>
            <a:ext cx="6253317" cy="368601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8000"/>
              <a:buFont typeface="Calibri"/>
              <a:buNone/>
            </a:pPr>
            <a:r>
              <a:rPr lang="en-GB" sz="8000">
                <a:solidFill>
                  <a:srgbClr val="262626"/>
                </a:solidFill>
              </a:rPr>
              <a:t>Questions?</a:t>
            </a:r>
            <a:endParaRPr/>
          </a:p>
        </p:txBody>
      </p:sp>
      <p:sp>
        <p:nvSpPr>
          <p:cNvPr id="175" name="Google Shape;175;p23"/>
          <p:cNvSpPr txBox="1"/>
          <p:nvPr>
            <p:ph idx="1" type="body"/>
          </p:nvPr>
        </p:nvSpPr>
        <p:spPr>
          <a:xfrm>
            <a:off x="5289753" y="4455621"/>
            <a:ext cx="6269347" cy="123861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en-GB" sz="2400" cap="non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THANK YOU</a:t>
            </a:r>
            <a:endParaRPr/>
          </a:p>
        </p:txBody>
      </p:sp>
      <p:pic>
        <p:nvPicPr>
          <p:cNvPr descr="Wood human figure" id="176" name="Google Shape;176;p23"/>
          <p:cNvPicPr preferRelativeResize="0"/>
          <p:nvPr/>
        </p:nvPicPr>
        <p:blipFill rotWithShape="1">
          <a:blip r:embed="rId3">
            <a:alphaModFix/>
          </a:blip>
          <a:srcRect b="-3" l="2173" r="52777" t="0"/>
          <a:stretch/>
        </p:blipFill>
        <p:spPr>
          <a:xfrm>
            <a:off x="-1" y="10"/>
            <a:ext cx="4635315" cy="6857989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77" name="Google Shape;177;p23"/>
          <p:cNvCxnSpPr/>
          <p:nvPr/>
        </p:nvCxnSpPr>
        <p:spPr>
          <a:xfrm>
            <a:off x="5447071" y="4343400"/>
            <a:ext cx="5636107" cy="0"/>
          </a:xfrm>
          <a:prstGeom prst="straightConnector1">
            <a:avLst/>
          </a:prstGeom>
          <a:noFill/>
          <a:ln cap="flat" cmpd="sng" w="9525">
            <a:solidFill>
              <a:schemeClr val="dk2">
                <a:alpha val="90196"/>
              </a:schemeClr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Retrospect">
  <a:themeElements>
    <a:clrScheme name="Retrospect">
      <a:dk1>
        <a:srgbClr val="000000"/>
      </a:dk1>
      <a:lt1>
        <a:srgbClr val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